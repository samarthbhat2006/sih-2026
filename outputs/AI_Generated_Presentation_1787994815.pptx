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 are here today to provide an executive briefing on a recent high-severity cyber incident, IR-2026-0884. This report outlines a coordinated credential harvesting campaign that targeted our organization. The information presented is classified as SENSITIVE - FOR OFFICIAL USE 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August 28th, our SOC detected unusual authentication patterns. Our investigation quickly confirmed an active and coordinated credential harvesting phishing campaign. This attack specifically targeted our critical administrative and engineering staff, aiming to compromise their credentials across our email and Azure AD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adversary employed a sophisticated spear-phishing technique. They crafted convincing emails, appearing to be from our internal IT Service Desk, with an urgent call to action regarding MFA updates. These emails contained malicious links that led users to a fake login page, designed to capture credentials and bypass legacy authentication prompts. In total, 17 critical personnel were targeted, and unfortunately, 4 individuals submitted their credentials before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incident impacted our Exchange Online mail gateway, Azure AD authentication services, and one internal workstation. Four user accounts were confirmed compromised, showing logins from an unauthorized foreign IP address. Crucially, due to our rapid response and token revocation within 18 minutes of detection, initial triage indicates no large-scale data exfiltration took place, significantly mitigating potential damage.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incident response team acted swiftly to contain the threat. We immediately revoked all active sessions and refreshed tokens for the compromised accounts. Firewall rules were updated to block all identified malicious IPs. Proactively, we enforced FIDO2 hardware token MFA for all privileged administrators to enhance their security posture. An advisory was also distributed to all staff to raise awareness about these types of phishing attempts. All incident artifacts have been securely logged for forensic analysis and future reference.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incident, while severe, was successfully contained with limited impact, primarily due to the rapid detection by our SOC and the swift actions of our incident response team. We confirmed no large-scale data exfiltration. We have already strengthened our security posture by enforcing FIDO2 MFA for privileged accounts and will continue to reinforce staff awareness. This incident underscores the persistent threat of sophisticated phishing campaigns and the critical importance of layered security defenses and continuous vigilance.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3931920"/>
            <a:ext cx="9997135"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97135" cy="2011680"/>
          </a:xfrm>
          <a:prstGeom prst="rect">
            <a:avLst/>
          </a:prstGeom>
          <a:noFill/>
        </p:spPr>
        <p:txBody>
          <a:bodyPr wrap="square">
            <a:spAutoFit/>
          </a:bodyPr>
          <a:lstStyle/>
          <a:p>
            <a:pPr>
              <a:defRPr sz="3600" b="1">
                <a:solidFill>
                  <a:srgbClr val="FFFFFF"/>
                </a:solidFill>
                <a:latin typeface="Calibri"/>
              </a:defRPr>
            </a:pPr>
            <a:r>
              <a:t>Cyber Incident Briefing: IR-2026-0884</a:t>
            </a:r>
          </a:p>
        </p:txBody>
      </p:sp>
      <p:sp>
        <p:nvSpPr>
          <p:cNvPr id="5" name="TextBox 4"/>
          <p:cNvSpPr txBox="1"/>
          <p:nvPr/>
        </p:nvSpPr>
        <p:spPr>
          <a:xfrm>
            <a:off x="1097280" y="4114800"/>
            <a:ext cx="9997135" cy="1371600"/>
          </a:xfrm>
          <a:prstGeom prst="rect">
            <a:avLst/>
          </a:prstGeom>
          <a:noFill/>
        </p:spPr>
        <p:txBody>
          <a:bodyPr wrap="square">
            <a:spAutoFit/>
          </a:bodyPr>
          <a:lstStyle/>
          <a:p>
            <a:pPr>
              <a:defRPr sz="2000">
                <a:solidFill>
                  <a:srgbClr val="CBD5E1"/>
                </a:solidFill>
                <a:latin typeface="Calibri"/>
              </a:defRPr>
            </a:pPr>
            <a:r>
              <a:t>Credential Harvesting Campaign Targeting Key Personnel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Executive Overview</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Anomalous authentication events identified on August 28, 2026, at approximately 08:15 UTC.</a:t>
            </a:r>
          </a:p>
          <a:p>
            <a:pPr>
              <a:spcAft>
                <a:spcPts val="1400"/>
              </a:spcAft>
              <a:defRPr sz="1600" b="0">
                <a:solidFill>
                  <a:srgbClr val="1E293B"/>
                </a:solidFill>
                <a:latin typeface="Calibri"/>
              </a:defRPr>
            </a:pPr>
            <a:r>
              <a:t>•  Security Operations Center (SOC) confirmed an active adversary conducting a coordinated credential harvesting phishing campaign.</a:t>
            </a:r>
          </a:p>
          <a:p>
            <a:pPr>
              <a:spcAft>
                <a:spcPts val="1400"/>
              </a:spcAft>
              <a:defRPr sz="1600" b="0">
                <a:solidFill>
                  <a:srgbClr val="1E293B"/>
                </a:solidFill>
                <a:latin typeface="Calibri"/>
              </a:defRPr>
            </a:pPr>
            <a:r>
              <a:t>•  Targeted key administrative and engineering personnel across organizational email gateways and Azure Active Directory tenant endpoints.</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Cyber Incident Briefing: IR-2026-0884</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Threat Actor &amp; Attack Mechanism</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Threat actor distributed high-priority phishing emails masquerading as internal IT Service Desk alerts.</a:t>
            </a:r>
          </a:p>
          <a:p>
            <a:pPr>
              <a:spcAft>
                <a:spcPts val="1400"/>
              </a:spcAft>
              <a:defRPr sz="1600" b="0">
                <a:solidFill>
                  <a:srgbClr val="1E293B"/>
                </a:solidFill>
                <a:latin typeface="Calibri"/>
              </a:defRPr>
            </a:pPr>
            <a:r>
              <a:t>•  Lure title: 'Urgent: Mandatory Multi-Factor Authentication Configuration Update Required'.</a:t>
            </a:r>
          </a:p>
          <a:p>
            <a:pPr>
              <a:spcAft>
                <a:spcPts val="1400"/>
              </a:spcAft>
              <a:defRPr sz="1600" b="0">
                <a:solidFill>
                  <a:srgbClr val="1E293B"/>
                </a:solidFill>
                <a:latin typeface="Calibri"/>
              </a:defRPr>
            </a:pPr>
            <a:r>
              <a:t>•  Phishing lures contained obfuscated hyperlinks redirecting to a counterfeit single sign-on portal.</a:t>
            </a:r>
          </a:p>
          <a:p>
            <a:pPr>
              <a:spcAft>
                <a:spcPts val="1400"/>
              </a:spcAft>
              <a:defRPr sz="1600" b="0">
                <a:solidFill>
                  <a:srgbClr val="1E293B"/>
                </a:solidFill>
                <a:latin typeface="Calibri"/>
              </a:defRPr>
            </a:pPr>
            <a:r>
              <a:t>•  Spoofed portal hosted on external infrastructure (198.51.100.42, verify-secops-ntro.org) to harvest session tokens.</a:t>
            </a:r>
          </a:p>
          <a:p>
            <a:pPr>
              <a:spcAft>
                <a:spcPts val="1400"/>
              </a:spcAft>
              <a:defRPr sz="1600" b="0">
                <a:solidFill>
                  <a:srgbClr val="1E293B"/>
                </a:solidFill>
                <a:latin typeface="Calibri"/>
              </a:defRPr>
            </a:pPr>
            <a:r>
              <a:t>•  14 senior engineers and 3 system administrators received the lure; 4 personnel submitted credentials.</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Cyber Incident Briefing: IR-2026-0884</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Impact &amp; Affected Infrastructure</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Affected Systems: Exchange Online Mail Gateway, Azure AD Endpoint Auth Services, Workstation-Host-04.</a:t>
            </a:r>
          </a:p>
          <a:p>
            <a:pPr>
              <a:spcAft>
                <a:spcPts val="1400"/>
              </a:spcAft>
              <a:defRPr sz="1600" b="0">
                <a:solidFill>
                  <a:srgbClr val="1E293B"/>
                </a:solidFill>
                <a:latin typeface="Calibri"/>
              </a:defRPr>
            </a:pPr>
            <a:r>
              <a:t>•  Compromised Accounts: 4 user accounts identified with abnormal login origins from foreign IP 203.0.113.195.</a:t>
            </a:r>
          </a:p>
          <a:p>
            <a:pPr>
              <a:spcAft>
                <a:spcPts val="1400"/>
              </a:spcAft>
              <a:defRPr sz="1600" b="0">
                <a:solidFill>
                  <a:srgbClr val="1E293B"/>
                </a:solidFill>
                <a:latin typeface="Calibri"/>
              </a:defRPr>
            </a:pPr>
            <a:r>
              <a:t>•  Data Exfiltration: Initial triage indicates no large-scale database exfiltration occurred.</a:t>
            </a:r>
          </a:p>
          <a:p>
            <a:pPr>
              <a:spcAft>
                <a:spcPts val="1400"/>
              </a:spcAft>
              <a:defRPr sz="1600" b="0">
                <a:solidFill>
                  <a:srgbClr val="1E293B"/>
                </a:solidFill>
                <a:latin typeface="Calibri"/>
              </a:defRPr>
            </a:pPr>
            <a:r>
              <a:t>•  Rapid token revocation within 18 minutes of trigger limited potential data loss.</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Cyber Incident Briefing: IR-2026-0884</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Containment &amp; Mitigation Actions</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Revoked all active user sessions and refreshed OAuth refresh tokens for the 4 affected accounts.</a:t>
            </a:r>
          </a:p>
          <a:p>
            <a:pPr>
              <a:spcAft>
                <a:spcPts val="1400"/>
              </a:spcAft>
              <a:defRPr sz="1600" b="0">
                <a:solidFill>
                  <a:srgbClr val="1E293B"/>
                </a:solidFill>
                <a:latin typeface="Calibri"/>
              </a:defRPr>
            </a:pPr>
            <a:r>
              <a:t>•  Ingested firewall block rules for malicious IPs: 198.51.100.42 and 203.0.113.195.</a:t>
            </a:r>
          </a:p>
          <a:p>
            <a:pPr>
              <a:spcAft>
                <a:spcPts val="1400"/>
              </a:spcAft>
              <a:defRPr sz="1600" b="0">
                <a:solidFill>
                  <a:srgbClr val="1E293B"/>
                </a:solidFill>
                <a:latin typeface="Calibri"/>
              </a:defRPr>
            </a:pPr>
            <a:r>
              <a:t>•  Enforced FIDO2 hardware token MFA requirements for all privileged administrators.</a:t>
            </a:r>
          </a:p>
          <a:p>
            <a:pPr>
              <a:spcAft>
                <a:spcPts val="1400"/>
              </a:spcAft>
              <a:defRPr sz="1600" b="0">
                <a:solidFill>
                  <a:srgbClr val="1E293B"/>
                </a:solidFill>
                <a:latin typeface="Calibri"/>
              </a:defRPr>
            </a:pPr>
            <a:r>
              <a:t>•  Distributed advisory update to all staff regarding counterfeit IT Service Desk lures.</a:t>
            </a:r>
          </a:p>
          <a:p>
            <a:pPr>
              <a:spcAft>
                <a:spcPts val="1400"/>
              </a:spcAft>
              <a:defRPr sz="1600" b="0">
                <a:solidFill>
                  <a:srgbClr val="1E293B"/>
                </a:solidFill>
                <a:latin typeface="Calibri"/>
              </a:defRPr>
            </a:pPr>
            <a:r>
              <a:t>•  Initiated cryptographic hashing and permanent ledger logging of all incident artifacts.</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Cyber Incident Briefing: IR-2026-0884</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Conclusion &amp; Key Takeaways</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700" b="1">
                <a:solidFill>
                  <a:srgbClr val="1E293B"/>
                </a:solidFill>
                <a:latin typeface="Calibri"/>
              </a:defRPr>
            </a:pPr>
            <a:r>
              <a:t>•  Incident contained with limited impact due to rapid detection and response.</a:t>
            </a:r>
          </a:p>
          <a:p>
            <a:pPr>
              <a:spcAft>
                <a:spcPts val="1400"/>
              </a:spcAft>
              <a:defRPr sz="1700" b="1">
                <a:solidFill>
                  <a:srgbClr val="1E293B"/>
                </a:solidFill>
                <a:latin typeface="Calibri"/>
              </a:defRPr>
            </a:pPr>
            <a:r>
              <a:t>•  No large-scale data exfiltration confirmed.</a:t>
            </a:r>
          </a:p>
          <a:p>
            <a:pPr>
              <a:spcAft>
                <a:spcPts val="1400"/>
              </a:spcAft>
              <a:defRPr sz="1700" b="1">
                <a:solidFill>
                  <a:srgbClr val="1E293B"/>
                </a:solidFill>
                <a:latin typeface="Calibri"/>
              </a:defRPr>
            </a:pPr>
            <a:r>
              <a:t>•  Enhanced security controls, including FIDO2 MFA, implemented for privileged accounts.</a:t>
            </a:r>
          </a:p>
          <a:p>
            <a:pPr>
              <a:spcAft>
                <a:spcPts val="1400"/>
              </a:spcAft>
              <a:defRPr sz="1700" b="1">
                <a:solidFill>
                  <a:srgbClr val="1E293B"/>
                </a:solidFill>
                <a:latin typeface="Calibri"/>
              </a:defRPr>
            </a:pPr>
            <a:r>
              <a:t>•  Ongoing vigilance and staff awareness remain critical against evolving phishing threats.</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Cyber Incident Briefing: IR-2026-0884</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