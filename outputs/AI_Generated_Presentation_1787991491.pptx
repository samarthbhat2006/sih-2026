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We are here today to provide an executive briefing on Incident Response Report IR-2026-0884, a high-severity cyber incident identified on August 28, 2026. This briefing will cover the details of the attack, its impact, and the swift actions taken by our security teams. The incident is classified as SENSITIVE - FOR OFFICIAL USE ONLY.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August 28th, our Security Operations Center detected unusual login attempts across our email gateways and Azure Active Directory endpoints. Our investigation quickly confirmed an active and sophisticated adversary was behind a coordinated phishing campaign specifically designed to harvest credentials from our critical administrative and engineering personnel.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adversary employed a highly targeted spear-phishing technique. Emails appeared to be urgent internal IT alerts, directing users to a convincing but fake login page hosted on external infrastructure. This page was designed to not just capture credentials, but also session tokens, aiming to bypass our existing multi-factor authentication. Critically, 17 of our key personnel were targeted, and 4 unfortunately submitted their credentials before containment.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incident impacted our Exchange Online Mail Gateway, Azure AD authentication services, and one internal workstation, Workstation-Host-04. Four user accounts were compromised, showing logins from an external foreign IP address. However, I want to emphasize that due to our rapid response and token revocation within 18 minutes, we prevented any large-scale database exfiltration, significantly limiting the potential damage.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incident response team acted decisively. We immediately revoked all compromised sessions and refreshed OAuth tokens. Firewall rules were updated to block known malicious IPs. Crucially, we have now enforced FIDO2 hardware token MFA for all privileged administrators, significantly enhancing our security posture against similar attacks. An advisory was also sent to all staff to raise awareness, and all incident artefacts are being logged for forensic purposes.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your awareness, these are the key indicators of compromise identified during the investigation. These IPs and domains are now blocked across our infrastructure. The attack leveraged techniques related to CVE-2024-21409, an authentication protocol relay vulnerability, which we are actively addressing across our systems. This information is critical for our ongoing threat intelligence and defensive measures.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high-severity incident was successfully contained, preventing significant data loss, which highlights the effectiveness of our rapid response protocols. We have learned valuable lessons and have already strengthened our defenses, particularly for privileged access, by enforcing FIDO2 MFA. Our teams remain vigilant, continuously monitoring for new threats and integrating the intelligence gained from this incident into our security posture. We will continue to provide updates as needed.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3931920"/>
            <a:ext cx="9997135"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9997135" cy="2011680"/>
          </a:xfrm>
          <a:prstGeom prst="rect">
            <a:avLst/>
          </a:prstGeom>
          <a:noFill/>
        </p:spPr>
        <p:txBody>
          <a:bodyPr wrap="square">
            <a:spAutoFit/>
          </a:bodyPr>
          <a:lstStyle/>
          <a:p>
            <a:pPr>
              <a:defRPr sz="3600" b="1">
                <a:solidFill>
                  <a:srgbClr val="FFFFFF"/>
                </a:solidFill>
                <a:latin typeface="Calibri"/>
              </a:defRPr>
            </a:pPr>
            <a:r>
              <a:t>Incident Briefing: Coordinated Credential Harvesting Campaign</a:t>
            </a:r>
          </a:p>
        </p:txBody>
      </p:sp>
      <p:sp>
        <p:nvSpPr>
          <p:cNvPr id="5" name="TextBox 4"/>
          <p:cNvSpPr txBox="1"/>
          <p:nvPr/>
        </p:nvSpPr>
        <p:spPr>
          <a:xfrm>
            <a:off x="1097280" y="4114800"/>
            <a:ext cx="9997135" cy="1371600"/>
          </a:xfrm>
          <a:prstGeom prst="rect">
            <a:avLst/>
          </a:prstGeom>
          <a:noFill/>
        </p:spPr>
        <p:txBody>
          <a:bodyPr wrap="square">
            <a:spAutoFit/>
          </a:bodyPr>
          <a:lstStyle/>
          <a:p>
            <a:pPr>
              <a:defRPr sz="2000">
                <a:solidFill>
                  <a:srgbClr val="CBD5E1"/>
                </a:solidFill>
                <a:latin typeface="Calibri"/>
              </a:defRPr>
            </a:pPr>
            <a:r>
              <a:t>IR-2026-0884 - Executive Update (NCOC / 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Executive Overview</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Anomalous authentication events identified on August 28, 2026, at 08:15 UTC.</a:t>
            </a:r>
          </a:p>
          <a:p>
            <a:pPr>
              <a:spcAft>
                <a:spcPts val="1400"/>
              </a:spcAft>
              <a:defRPr sz="1600" b="0">
                <a:solidFill>
                  <a:srgbClr val="1E293B"/>
                </a:solidFill>
                <a:latin typeface="Calibri"/>
              </a:defRPr>
            </a:pPr>
            <a:r>
              <a:t>•  Investigation confirmed an active adversary conducting a coordinated credential harvesting phishing campaign.</a:t>
            </a:r>
          </a:p>
          <a:p>
            <a:pPr>
              <a:spcAft>
                <a:spcPts val="1400"/>
              </a:spcAft>
              <a:defRPr sz="1600" b="0">
                <a:solidFill>
                  <a:srgbClr val="1E293B"/>
                </a:solidFill>
                <a:latin typeface="Calibri"/>
              </a:defRPr>
            </a:pPr>
            <a:r>
              <a:t>•  Targeted key administrative and engineering personnel across organizational email gateways and Azure Active Directory.</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Incident Briefing: Coordinated Credential Harvesting Campaign</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2 of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Attack Mechanism &amp; Threat Profile</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Threat actor distributed spear-phishing emails masquerading as 'Urgent: Mandatory MFA Configuration Update Required' from internal IT Service Desk.</a:t>
            </a:r>
          </a:p>
          <a:p>
            <a:pPr>
              <a:spcAft>
                <a:spcPts val="1400"/>
              </a:spcAft>
              <a:defRPr sz="1600" b="0">
                <a:solidFill>
                  <a:srgbClr val="1E293B"/>
                </a:solidFill>
                <a:latin typeface="Calibri"/>
              </a:defRPr>
            </a:pPr>
            <a:r>
              <a:t>•  Phishing lures contained obfuscated hyperlinks redirecting users to a counterfeit single sign-on portal (verify-secops-ntro.org).</a:t>
            </a:r>
          </a:p>
          <a:p>
            <a:pPr>
              <a:spcAft>
                <a:spcPts val="1400"/>
              </a:spcAft>
              <a:defRPr sz="1600" b="0">
                <a:solidFill>
                  <a:srgbClr val="1E293B"/>
                </a:solidFill>
                <a:latin typeface="Calibri"/>
              </a:defRPr>
            </a:pPr>
            <a:r>
              <a:t>•  Attack designed to harvest session tokens and bypass legacy authentication prompts.</a:t>
            </a:r>
          </a:p>
          <a:p>
            <a:pPr>
              <a:spcAft>
                <a:spcPts val="1400"/>
              </a:spcAft>
              <a:defRPr sz="1600" b="0">
                <a:solidFill>
                  <a:srgbClr val="1E293B"/>
                </a:solidFill>
                <a:latin typeface="Calibri"/>
              </a:defRPr>
            </a:pPr>
            <a:r>
              <a:t>•  14 senior engineers and 3 system administrators received the lure; 4 personnel submitted credentials before containment.</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Incident Briefing: Coordinated Credential Harvesting Campaign</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3 of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Impact &amp; Affected Infrastructure</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Affected Systems: Exchange Online Mail Gateway, Azure AD Endpoint Auth Services, and Workstation-Host-04.</a:t>
            </a:r>
          </a:p>
          <a:p>
            <a:pPr>
              <a:spcAft>
                <a:spcPts val="1400"/>
              </a:spcAft>
              <a:defRPr sz="1600" b="0">
                <a:solidFill>
                  <a:srgbClr val="1E293B"/>
                </a:solidFill>
                <a:latin typeface="Calibri"/>
              </a:defRPr>
            </a:pPr>
            <a:r>
              <a:t>•  4 user accounts identified with abnormal login origins from foreign IP 203.0.113.195.</a:t>
            </a:r>
          </a:p>
          <a:p>
            <a:pPr>
              <a:spcAft>
                <a:spcPts val="1400"/>
              </a:spcAft>
              <a:defRPr sz="1600" b="0">
                <a:solidFill>
                  <a:srgbClr val="1E293B"/>
                </a:solidFill>
                <a:latin typeface="Calibri"/>
              </a:defRPr>
            </a:pPr>
            <a:r>
              <a:t>•  No large-scale database exfiltration occurred due to rapid token revocation within 18 minutes of trigger.</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Incident Briefing: Coordinated Credential Harvesting Campaign</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4 of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Containment &amp; Mitigation Actions Undertaken</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Revoked all active user sessions and refreshed OAuth refresh tokens for all 4 affected accounts.</a:t>
            </a:r>
          </a:p>
          <a:p>
            <a:pPr>
              <a:spcAft>
                <a:spcPts val="1400"/>
              </a:spcAft>
              <a:defRPr sz="1600" b="0">
                <a:solidFill>
                  <a:srgbClr val="1E293B"/>
                </a:solidFill>
                <a:latin typeface="Calibri"/>
              </a:defRPr>
            </a:pPr>
            <a:r>
              <a:t>•  Implemented firewall block rules for inbound/outbound traffic to malicious IPs (198.51.100.42, 203.0.113.195).</a:t>
            </a:r>
          </a:p>
          <a:p>
            <a:pPr>
              <a:spcAft>
                <a:spcPts val="1400"/>
              </a:spcAft>
              <a:defRPr sz="1600" b="0">
                <a:solidFill>
                  <a:srgbClr val="1E293B"/>
                </a:solidFill>
                <a:latin typeface="Calibri"/>
              </a:defRPr>
            </a:pPr>
            <a:r>
              <a:t>•  Enforced FIDO2 hardware token MFA requirements for all privileged administrators.</a:t>
            </a:r>
          </a:p>
          <a:p>
            <a:pPr>
              <a:spcAft>
                <a:spcPts val="1400"/>
              </a:spcAft>
              <a:defRPr sz="1600" b="0">
                <a:solidFill>
                  <a:srgbClr val="1E293B"/>
                </a:solidFill>
                <a:latin typeface="Calibri"/>
              </a:defRPr>
            </a:pPr>
            <a:r>
              <a:t>•  Distributed advisory update to all staff regarding counterfeit IT Service Desk lures.</a:t>
            </a:r>
          </a:p>
          <a:p>
            <a:pPr>
              <a:spcAft>
                <a:spcPts val="1400"/>
              </a:spcAft>
              <a:defRPr sz="1600" b="0">
                <a:solidFill>
                  <a:srgbClr val="1E293B"/>
                </a:solidFill>
                <a:latin typeface="Calibri"/>
              </a:defRPr>
            </a:pPr>
            <a:r>
              <a:t>•  Initiated cryptographic hashing and permanent ledger logging of all incident artefacts.</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Incident Briefing: Coordinated Credential Harvesting Campaign</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5 of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Key Indicators of Compromise (IoCs)</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Malicious IPs: 198.51.100.42, 203.0.113.195, 192.0.2.77</a:t>
            </a:r>
          </a:p>
          <a:p>
            <a:pPr>
              <a:spcAft>
                <a:spcPts val="1400"/>
              </a:spcAft>
              <a:defRPr sz="1600" b="0">
                <a:solidFill>
                  <a:srgbClr val="1E293B"/>
                </a:solidFill>
                <a:latin typeface="Calibri"/>
              </a:defRPr>
            </a:pPr>
            <a:r>
              <a:t>•  Phishing Domains: verify-secops-ntro.org, auth-gateway-update.net</a:t>
            </a:r>
          </a:p>
          <a:p>
            <a:pPr>
              <a:spcAft>
                <a:spcPts val="1400"/>
              </a:spcAft>
              <a:defRPr sz="1600" b="0">
                <a:solidFill>
                  <a:srgbClr val="1E293B"/>
                </a:solidFill>
                <a:latin typeface="Calibri"/>
              </a:defRPr>
            </a:pPr>
            <a:r>
              <a:t>•  Associated Vulnerability Reference: CVE-2024-21409 (Authentication Protocol Relay)</a:t>
            </a:r>
          </a:p>
          <a:p>
            <a:pPr>
              <a:spcAft>
                <a:spcPts val="1400"/>
              </a:spcAft>
              <a:defRPr sz="1600" b="0">
                <a:solidFill>
                  <a:srgbClr val="1E293B"/>
                </a:solidFill>
                <a:latin typeface="Calibri"/>
              </a:defRPr>
            </a:pPr>
            <a:r>
              <a:t>•  Internal Host Impacted: WS-ENG-0884.internal.net</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Incident Briefing: Coordinated Credential Harvesting Campaign</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6 of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Conclusion &amp; Ongoing Security Posture</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700" b="1">
                <a:solidFill>
                  <a:srgbClr val="1E293B"/>
                </a:solidFill>
                <a:latin typeface="Calibri"/>
              </a:defRPr>
            </a:pPr>
            <a:r>
              <a:t>•  Incident successfully contained with no large-scale data exfiltration, demonstrating effective rapid response.</a:t>
            </a:r>
          </a:p>
          <a:p>
            <a:pPr>
              <a:spcAft>
                <a:spcPts val="1400"/>
              </a:spcAft>
              <a:defRPr sz="1700" b="1">
                <a:solidFill>
                  <a:srgbClr val="1E293B"/>
                </a:solidFill>
                <a:latin typeface="Calibri"/>
              </a:defRPr>
            </a:pPr>
            <a:r>
              <a:t>•  Enhanced security measures, including FIDO2 MFA, implemented for privileged accounts to strengthen defenses.</a:t>
            </a:r>
          </a:p>
          <a:p>
            <a:pPr>
              <a:spcAft>
                <a:spcPts val="1400"/>
              </a:spcAft>
              <a:defRPr sz="1700" b="1">
                <a:solidFill>
                  <a:srgbClr val="1E293B"/>
                </a:solidFill>
                <a:latin typeface="Calibri"/>
              </a:defRPr>
            </a:pPr>
            <a:r>
              <a:t>•  Continued monitoring and threat intelligence integration to prevent future attacks and adapt to evolving threats.</a:t>
            </a:r>
          </a:p>
          <a:p>
            <a:pPr>
              <a:spcAft>
                <a:spcPts val="1400"/>
              </a:spcAft>
              <a:defRPr sz="1700" b="1">
                <a:solidFill>
                  <a:srgbClr val="1E293B"/>
                </a:solidFill>
                <a:latin typeface="Calibri"/>
              </a:defRPr>
            </a:pPr>
            <a:r>
              <a:t>•  Incident classified as HIGH severity, underscoring the need for continuous vigilance and security posture improvement.</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Incident Briefing: Coordinated Credential Harvesting Campaign</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7 of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