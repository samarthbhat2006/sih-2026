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here today to brief you on Incident Response Report IR-2026-0884, a high-severity cyber incident. This briefing will cover the details of a recent coordinated credential harvesting campaign targeting our organization, the actions taken, and the current status. The report was prepared by the Cyber Incident Triage Unit (CITU-7) of the National Technical Research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on August 28th, our Security Operations Center detected anomalous authentication events, quickly confirming a high-severity credential harvesting phishing campaign. This attack specifically targeted our critical administrative and engineering staff. While four accounts were compromised, our rapid response prevented any large-scale data exfiltration, which is a critical positive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Delving into the attack details, the adversary employed sophisticated spear-phishing tactics. They sent emails disguised as urgent IT Service Desk alerts, prompting users to update their Multi-Factor Authentication configuration. These emails contained obfuscated links leading to a spoofed login page designed to capture credentials and session tokens, specifically targeting our senior engineers and system administrators. Out of 17 targeted individuals, 4 submitted their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impact, the incident affected critical systems including our Exchange Online Mail Gateway and Azure Active Directory Authentication Services. Four user accounts were confirmed compromised, with logins originating from a foreign IP address. Crucially, due to our rapid response and token revocation within 18 minutes, there was no large-scale data exfiltration. The attack leveraged techniques related to Authentication Protocol Relay, referenced as CVE-2024-21409.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took swift and decisive actions to contain and mitigate the incident. This included immediately revoking all active sessions and refreshing tokens for the compromised accounts, as well as blocking all identified malicious IPs at the firewall level. Proactively, we enforced FIDO2 hardware token Multi-Factor Authentication for all privileged administrators to enhance security posture. We also issued an organization-wide advisory to raise awareness about such phishing attempts and ensured all incident artifacts were securely logged for forensic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incident highlights the persistent threat of sophisticated phishing campaigns. Our rapid detection and response capabilities were instrumental in limiting the impact, preventing large-scale data exfiltration, and containing the adversary within minutes. We have already implemented enhanced security measures, such as FIDO2 MFA for privileged administrators, and will continue to reinforce user awareness and maintain vigilant monitoring to strengthen our defenses against future threats.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3931920"/>
            <a:ext cx="9997135" cy="54864"/>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997135" cy="2011680"/>
          </a:xfrm>
          <a:prstGeom prst="rect">
            <a:avLst/>
          </a:prstGeom>
          <a:noFill/>
        </p:spPr>
        <p:txBody>
          <a:bodyPr wrap="square">
            <a:spAutoFit/>
          </a:bodyPr>
          <a:lstStyle/>
          <a:p>
            <a:pPr>
              <a:defRPr sz="3600" b="1">
                <a:solidFill>
                  <a:srgbClr val="FFFFFF"/>
                </a:solidFill>
                <a:latin typeface="Calibri"/>
              </a:defRPr>
            </a:pPr>
            <a:r>
              <a:t>Incident Brief: Coordinated Credential Harvesting Campaign</a:t>
            </a:r>
          </a:p>
        </p:txBody>
      </p:sp>
      <p:sp>
        <p:nvSpPr>
          <p:cNvPr id="5" name="TextBox 4"/>
          <p:cNvSpPr txBox="1"/>
          <p:nvPr/>
        </p:nvSpPr>
        <p:spPr>
          <a:xfrm>
            <a:off x="1097280" y="4114800"/>
            <a:ext cx="9997135" cy="1371600"/>
          </a:xfrm>
          <a:prstGeom prst="rect">
            <a:avLst/>
          </a:prstGeom>
          <a:noFill/>
        </p:spPr>
        <p:txBody>
          <a:bodyPr wrap="square">
            <a:spAutoFit/>
          </a:bodyPr>
          <a:lstStyle/>
          <a:p>
            <a:pPr>
              <a:defRPr sz="2000">
                <a:solidFill>
                  <a:srgbClr val="CBD5E1"/>
                </a:solidFill>
                <a:latin typeface="Calibri"/>
              </a:defRPr>
            </a:pPr>
            <a:r>
              <a:t>IR-2026-0884 - Executive Briefing (NCOC / 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Executive Summary</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High-severity incident identified on August 28, 2026, at 08:15 UTC.</a:t>
            </a:r>
          </a:p>
          <a:p>
            <a:pPr>
              <a:spcAft>
                <a:spcPts val="1400"/>
              </a:spcAft>
              <a:defRPr sz="1600" b="0">
                <a:solidFill>
                  <a:srgbClr val="1E293B"/>
                </a:solidFill>
                <a:latin typeface="Calibri"/>
              </a:defRPr>
            </a:pPr>
            <a:r>
              <a:t>•  Active adversary conducted a coordinated credential harvesting phishing campaign.</a:t>
            </a:r>
          </a:p>
          <a:p>
            <a:pPr>
              <a:spcAft>
                <a:spcPts val="1400"/>
              </a:spcAft>
              <a:defRPr sz="1600" b="0">
                <a:solidFill>
                  <a:srgbClr val="1E293B"/>
                </a:solidFill>
                <a:latin typeface="Calibri"/>
              </a:defRPr>
            </a:pPr>
            <a:r>
              <a:t>•  Targeted key administrative and engineering personnel.</a:t>
            </a:r>
          </a:p>
          <a:p>
            <a:pPr>
              <a:spcAft>
                <a:spcPts val="1400"/>
              </a:spcAft>
              <a:defRPr sz="1600" b="0">
                <a:solidFill>
                  <a:srgbClr val="1E293B"/>
                </a:solidFill>
                <a:latin typeface="Calibri"/>
              </a:defRPr>
            </a:pPr>
            <a:r>
              <a:t>•  4 user accounts compromised before rapid containment.</a:t>
            </a:r>
          </a:p>
          <a:p>
            <a:pPr>
              <a:spcAft>
                <a:spcPts val="1400"/>
              </a:spcAft>
              <a:defRPr sz="1600" b="0">
                <a:solidFill>
                  <a:srgbClr val="1E293B"/>
                </a:solidFill>
                <a:latin typeface="Calibri"/>
              </a:defRPr>
            </a:pPr>
            <a:r>
              <a:t>•  Initial triage indicates no large-scale data exfiltration occurred.</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Attack Details &amp; Mechanism</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Threat Actor: Distributed high-priority phishing emails masquerading as internal IT Service Desk alerts.</a:t>
            </a:r>
          </a:p>
          <a:p>
            <a:pPr>
              <a:spcAft>
                <a:spcPts val="1400"/>
              </a:spcAft>
              <a:defRPr sz="1600" b="0">
                <a:solidFill>
                  <a:srgbClr val="1E293B"/>
                </a:solidFill>
                <a:latin typeface="Calibri"/>
              </a:defRPr>
            </a:pPr>
            <a:r>
              <a:t>•  Lure: "Urgent: Mandatory Multi-Factor Authentication Configuration Update Required".</a:t>
            </a:r>
          </a:p>
          <a:p>
            <a:pPr>
              <a:spcAft>
                <a:spcPts val="1400"/>
              </a:spcAft>
              <a:defRPr sz="1600" b="0">
                <a:solidFill>
                  <a:srgbClr val="1E293B"/>
                </a:solidFill>
                <a:latin typeface="Calibri"/>
              </a:defRPr>
            </a:pPr>
            <a:r>
              <a:t>•  Attack Vector: Spear-phishing email with HTML lure attachments.</a:t>
            </a:r>
          </a:p>
          <a:p>
            <a:pPr>
              <a:spcAft>
                <a:spcPts val="1400"/>
              </a:spcAft>
              <a:defRPr sz="1600" b="0">
                <a:solidFill>
                  <a:srgbClr val="1E293B"/>
                </a:solidFill>
                <a:latin typeface="Calibri"/>
              </a:defRPr>
            </a:pPr>
            <a:r>
              <a:t>•  Mechanism: Redirected users to a counterfeit single sign-on portal (verify-secops-ntro.org) to harvest session tokens and bypass legacy authentication.</a:t>
            </a:r>
          </a:p>
          <a:p>
            <a:pPr>
              <a:spcAft>
                <a:spcPts val="1400"/>
              </a:spcAft>
              <a:defRPr sz="1600" b="0">
                <a:solidFill>
                  <a:srgbClr val="1E293B"/>
                </a:solidFill>
                <a:latin typeface="Calibri"/>
              </a:defRPr>
            </a:pPr>
            <a:r>
              <a:t>•  Target Profile: 14 senior engineers and 3 system administrators received the lure.</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Impact &amp; Affected Infrastructure</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Affected Systems: Exchange Online Mail Gateway, Azure AD Endpoint Auth Services, Workstation-Host-04.</a:t>
            </a:r>
          </a:p>
          <a:p>
            <a:pPr>
              <a:spcAft>
                <a:spcPts val="1400"/>
              </a:spcAft>
              <a:defRPr sz="1600" b="0">
                <a:solidFill>
                  <a:srgbClr val="1E293B"/>
                </a:solidFill>
                <a:latin typeface="Calibri"/>
              </a:defRPr>
            </a:pPr>
            <a:r>
              <a:t>•  Compromised Accounts: 4 user accounts identified with abnormal login origins from foreign IP 203.0.113.195.</a:t>
            </a:r>
          </a:p>
          <a:p>
            <a:pPr>
              <a:spcAft>
                <a:spcPts val="1400"/>
              </a:spcAft>
              <a:defRPr sz="1600" b="0">
                <a:solidFill>
                  <a:srgbClr val="1E293B"/>
                </a:solidFill>
                <a:latin typeface="Calibri"/>
              </a:defRPr>
            </a:pPr>
            <a:r>
              <a:t>•  Data Exfiltration: No large-scale database exfiltration occurred due to rapid token revocation within 18 minutes.</a:t>
            </a:r>
          </a:p>
          <a:p>
            <a:pPr>
              <a:spcAft>
                <a:spcPts val="1400"/>
              </a:spcAft>
              <a:defRPr sz="1600" b="0">
                <a:solidFill>
                  <a:srgbClr val="1E293B"/>
                </a:solidFill>
                <a:latin typeface="Calibri"/>
              </a:defRPr>
            </a:pPr>
            <a:r>
              <a:t>•  Associated Vulnerability: CVE-2024-21409 (Authentication Protocol Relay).</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Containment &amp; Mitigation Actions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600" b="0">
                <a:solidFill>
                  <a:srgbClr val="1E293B"/>
                </a:solidFill>
                <a:latin typeface="Calibri"/>
              </a:defRPr>
            </a:pPr>
            <a:r>
              <a:t>•  Revoked all active user sessions and refreshed OAuth refresh tokens for all 4 affected accounts.</a:t>
            </a:r>
          </a:p>
          <a:p>
            <a:pPr>
              <a:spcAft>
                <a:spcPts val="1400"/>
              </a:spcAft>
              <a:defRPr sz="1600" b="0">
                <a:solidFill>
                  <a:srgbClr val="1E293B"/>
                </a:solidFill>
                <a:latin typeface="Calibri"/>
              </a:defRPr>
            </a:pPr>
            <a:r>
              <a:t>•  Implemented firewall block rules for malicious IPs (198.51.100.42, 203.0.113.195).</a:t>
            </a:r>
          </a:p>
          <a:p>
            <a:pPr>
              <a:spcAft>
                <a:spcPts val="1400"/>
              </a:spcAft>
              <a:defRPr sz="1600" b="0">
                <a:solidFill>
                  <a:srgbClr val="1E293B"/>
                </a:solidFill>
                <a:latin typeface="Calibri"/>
              </a:defRPr>
            </a:pPr>
            <a:r>
              <a:t>•  Enforced FIDO2 hardware token MFA requirements for all privileged administrators.</a:t>
            </a:r>
          </a:p>
          <a:p>
            <a:pPr>
              <a:spcAft>
                <a:spcPts val="1400"/>
              </a:spcAft>
              <a:defRPr sz="1600" b="0">
                <a:solidFill>
                  <a:srgbClr val="1E293B"/>
                </a:solidFill>
                <a:latin typeface="Calibri"/>
              </a:defRPr>
            </a:pPr>
            <a:r>
              <a:t>•  Distributed advisory update to all staff regarding counterfeit IT Service Desk lures.</a:t>
            </a:r>
          </a:p>
          <a:p>
            <a:pPr>
              <a:spcAft>
                <a:spcPts val="1400"/>
              </a:spcAft>
              <a:defRPr sz="1600" b="0">
                <a:solidFill>
                  <a:srgbClr val="1E293B"/>
                </a:solidFill>
                <a:latin typeface="Calibri"/>
              </a:defRPr>
            </a:pPr>
            <a:r>
              <a:t>•  Initiated cryptographic hashing and permanent ledger logging of all incident artefacts.</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698480" cy="731520"/>
          </a:xfrm>
          <a:prstGeom prst="rect">
            <a:avLst/>
          </a:prstGeom>
          <a:noFill/>
        </p:spPr>
        <p:txBody>
          <a:bodyPr wrap="square">
            <a:spAutoFit/>
          </a:bodyPr>
          <a:lstStyle/>
          <a:p>
            <a:pPr>
              <a:defRPr sz="2400" b="1">
                <a:solidFill>
                  <a:srgbClr val="FFFFFF"/>
                </a:solidFill>
                <a:latin typeface="Calibri"/>
              </a:defRPr>
            </a:pPr>
            <a:r>
              <a:t>Conclusion &amp; Next Steps</a:t>
            </a:r>
          </a:p>
        </p:txBody>
      </p:sp>
      <p:sp>
        <p:nvSpPr>
          <p:cNvPr id="4" name="TextBox 3"/>
          <p:cNvSpPr txBox="1"/>
          <p:nvPr/>
        </p:nvSpPr>
        <p:spPr>
          <a:xfrm>
            <a:off x="731520" y="1463040"/>
            <a:ext cx="10728655" cy="4480560"/>
          </a:xfrm>
          <a:prstGeom prst="rect">
            <a:avLst/>
          </a:prstGeom>
          <a:noFill/>
        </p:spPr>
        <p:txBody>
          <a:bodyPr wrap="square">
            <a:spAutoFit/>
          </a:bodyPr>
          <a:lstStyle/>
          <a:p>
            <a:pPr>
              <a:spcAft>
                <a:spcPts val="1400"/>
              </a:spcAft>
              <a:defRPr sz="1700" b="1">
                <a:solidFill>
                  <a:srgbClr val="1E293B"/>
                </a:solidFill>
                <a:latin typeface="Calibri"/>
              </a:defRPr>
            </a:pPr>
            <a:r>
              <a:t>•  Rapid detection and response limited the impact of a sophisticated credential harvesting campaign.</a:t>
            </a:r>
          </a:p>
          <a:p>
            <a:pPr>
              <a:spcAft>
                <a:spcPts val="1400"/>
              </a:spcAft>
              <a:defRPr sz="1700" b="1">
                <a:solidFill>
                  <a:srgbClr val="1E293B"/>
                </a:solidFill>
                <a:latin typeface="Calibri"/>
              </a:defRPr>
            </a:pPr>
            <a:r>
              <a:t>•  No large-scale data exfiltration confirmed.</a:t>
            </a:r>
          </a:p>
          <a:p>
            <a:pPr>
              <a:spcAft>
                <a:spcPts val="1400"/>
              </a:spcAft>
              <a:defRPr sz="1700" b="1">
                <a:solidFill>
                  <a:srgbClr val="1E293B"/>
                </a:solidFill>
                <a:latin typeface="Calibri"/>
              </a:defRPr>
            </a:pPr>
            <a:r>
              <a:t>•  Enhanced security measures, including FIDO2 MFA, have been implemented for privileged users.</a:t>
            </a:r>
          </a:p>
          <a:p>
            <a:pPr>
              <a:spcAft>
                <a:spcPts val="1400"/>
              </a:spcAft>
              <a:defRPr sz="1700" b="1">
                <a:solidFill>
                  <a:srgbClr val="1E293B"/>
                </a:solidFill>
                <a:latin typeface="Calibri"/>
              </a:defRPr>
            </a:pPr>
            <a:r>
              <a:t>•  Ongoing monitoring and user awareness remain critical.</a:t>
            </a:r>
          </a:p>
        </p:txBody>
      </p:sp>
      <p:sp>
        <p:nvSpPr>
          <p:cNvPr id="5" name="TextBox 4"/>
          <p:cNvSpPr txBox="1"/>
          <p:nvPr/>
        </p:nvSpPr>
        <p:spPr>
          <a:xfrm>
            <a:off x="731520" y="6217920"/>
            <a:ext cx="7315200" cy="365760"/>
          </a:xfrm>
          <a:prstGeom prst="rect">
            <a:avLst/>
          </a:prstGeom>
          <a:noFill/>
        </p:spPr>
        <p:txBody>
          <a:bodyPr wrap="none">
            <a:spAutoFit/>
          </a:bodyPr>
          <a:lstStyle/>
          <a:p>
            <a:pPr>
              <a:defRPr sz="1000">
                <a:solidFill>
                  <a:srgbClr val="64748B"/>
                </a:solidFill>
              </a:defRPr>
            </a:pPr>
            <a:r>
              <a:t>NTRO AI Platform  |  Incident Brief: Coordinated Credential Harvesting Campaign</a:t>
            </a:r>
          </a:p>
        </p:txBody>
      </p:sp>
      <p:sp>
        <p:nvSpPr>
          <p:cNvPr id="6" name="TextBox 5"/>
          <p:cNvSpPr txBox="1"/>
          <p:nvPr/>
        </p:nvSpPr>
        <p:spPr>
          <a:xfrm>
            <a:off x="9601200" y="6217920"/>
            <a:ext cx="1828800" cy="365760"/>
          </a:xfrm>
          <a:prstGeom prst="rect">
            <a:avLst/>
          </a:prstGeom>
          <a:noFill/>
        </p:spPr>
        <p:txBody>
          <a:bodyPr wrap="none">
            <a:spAutoFit/>
          </a:bodyPr>
          <a:lstStyle/>
          <a:p>
            <a:pPr algn="r">
              <a:defRPr sz="1000">
                <a:solidFill>
                  <a:srgbClr val="64748B"/>
                </a:solidFill>
              </a:defRPr>
            </a:pPr>
            <a: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